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p:scale>
          <a:sx n="75" d="100"/>
          <a:sy n="75" d="100"/>
        </p:scale>
        <p:origin x="112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ankalan77/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Certificate.pdf"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828045" y="2814804"/>
            <a:ext cx="7127718" cy="1579914"/>
          </a:xfrm>
        </p:spPr>
        <p:txBody>
          <a:bodyPr vert="horz" lIns="91440" tIns="45720" rIns="91440" bIns="45720" rtlCol="0" anchor="t">
            <a:noAutofit/>
          </a:bodyPr>
          <a:lstStyle/>
          <a:p>
            <a:r>
              <a:rPr lang="en-US" b="0" dirty="0">
                <a:solidFill>
                  <a:schemeClr val="tx1"/>
                </a:solidFill>
              </a:rPr>
              <a:t>Student Name- </a:t>
            </a:r>
            <a:r>
              <a:rPr lang="en-US" b="0" dirty="0" err="1">
                <a:solidFill>
                  <a:schemeClr val="tx1"/>
                </a:solidFill>
              </a:rPr>
              <a:t>Sankalan</a:t>
            </a:r>
            <a:r>
              <a:rPr lang="en-US" b="0" dirty="0">
                <a:solidFill>
                  <a:schemeClr val="tx1"/>
                </a:solidFill>
              </a:rPr>
              <a:t> Roy</a:t>
            </a:r>
          </a:p>
          <a:p>
            <a:r>
              <a:rPr lang="en-US" b="0" dirty="0">
                <a:solidFill>
                  <a:schemeClr val="tx1"/>
                </a:solidFill>
              </a:rPr>
              <a:t>College Name- GURU NANAK INSTITUTE OF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088911" y="358220"/>
            <a:ext cx="10173138" cy="743448"/>
          </a:xfrm>
        </p:spPr>
        <p:txBody>
          <a:bodyPr>
            <a:normAutofit fontScale="90000"/>
          </a:bodyPr>
          <a:lstStyle/>
          <a:p>
            <a:r>
              <a:rPr lang="en-GB" sz="3200" b="1" u="sng" dirty="0"/>
              <a:t>Project Title- </a:t>
            </a:r>
            <a:r>
              <a:rPr lang="en-IN" sz="3200" b="1" u="sng"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819082" y="3676301"/>
            <a:ext cx="5443394" cy="400110"/>
          </a:xfrm>
          <a:prstGeom prst="rect">
            <a:avLst/>
          </a:prstGeom>
          <a:noFill/>
        </p:spPr>
        <p:txBody>
          <a:bodyPr wrap="square" rtlCol="0">
            <a:spAutoFit/>
          </a:bodyPr>
          <a:lstStyle/>
          <a:p>
            <a:r>
              <a:rPr lang="en-US" sz="2000" b="1" dirty="0"/>
              <a:t>AICTE STU ID :</a:t>
            </a:r>
            <a:r>
              <a:rPr lang="en-IN" sz="2000" dirty="0"/>
              <a:t>STU6745d07e9f53b1732628606</a:t>
            </a:r>
            <a:endParaRPr lang="en-US" sz="20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003002"/>
            <a:ext cx="7241082" cy="3607987"/>
          </a:xfrm>
        </p:spPr>
        <p:txBody>
          <a:bodyPr vert="horz" lIns="91440" tIns="45720" rIns="91440" bIns="45720" rtlCol="0" anchor="t">
            <a:normAutofit/>
          </a:bodyPr>
          <a:lstStyle/>
          <a:p>
            <a:pPr marL="0" indent="0" algn="just">
              <a:lnSpc>
                <a:spcPct val="100000"/>
              </a:lnSpc>
              <a:buNone/>
            </a:pPr>
            <a:r>
              <a:rPr lang="en-IN" sz="17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1700" dirty="0" err="1"/>
              <a:t>analyze</a:t>
            </a:r>
            <a:r>
              <a:rPr lang="en-IN" sz="17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625980" y="6446417"/>
            <a:ext cx="3706253" cy="296092"/>
          </a:xfrm>
          <a:prstGeom prst="rect">
            <a:avLst/>
          </a:prstGeom>
        </p:spPr>
      </p:pic>
      <p:sp>
        <p:nvSpPr>
          <p:cNvPr id="2" name="TextBox 1">
            <a:extLst>
              <a:ext uri="{FF2B5EF4-FFF2-40B4-BE49-F238E27FC236}">
                <a16:creationId xmlns:a16="http://schemas.microsoft.com/office/drawing/2014/main" id="{1EA889B4-CCE4-8830-F562-4275F560EE40}"/>
              </a:ext>
            </a:extLst>
          </p:cNvPr>
          <p:cNvSpPr txBox="1"/>
          <p:nvPr/>
        </p:nvSpPr>
        <p:spPr>
          <a:xfrm>
            <a:off x="675957" y="1767126"/>
            <a:ext cx="10972800" cy="4801314"/>
          </a:xfrm>
          <a:prstGeom prst="rect">
            <a:avLst/>
          </a:prstGeom>
          <a:noFill/>
        </p:spPr>
        <p:txBody>
          <a:bodyPr wrap="square" rtlCol="0">
            <a:spAutoFit/>
          </a:bodyPr>
          <a:lstStyle/>
          <a:p>
            <a:pPr algn="just"/>
            <a:r>
              <a:rPr lang="en-IN" b="1" dirty="0"/>
              <a:t>Seasonal Agriculture Performance Analysis</a:t>
            </a:r>
            <a:r>
              <a:rPr lang="en-IN" dirty="0"/>
              <a:t> is a data analytics project that investigates how India's three cropping seasons — </a:t>
            </a:r>
            <a:r>
              <a:rPr lang="en-IN" b="1" dirty="0"/>
              <a:t>Kharif, Rabi, and Zaid</a:t>
            </a:r>
            <a:r>
              <a:rPr lang="en-IN" dirty="0"/>
              <a:t> — shape farm-level agricultural and economic outcomes. It was completed as the Major Project for the VOIS AICTE Virtual Internship, Batch 1 (2026–2027).</a:t>
            </a:r>
          </a:p>
          <a:p>
            <a:pPr algn="just"/>
            <a:r>
              <a:rPr lang="en-IN" dirty="0"/>
              <a:t>Agricultural output in India doesn't stay constant through the year — rainfall, temperature, humidity, soil conditions, and even the resources farmers apply shift dramatically between seasons, and each of these shifts leaves a mark on yield, cost, and profitability. Raw farm records don't make these patterns obvious on their own; the differences have to be extracted through structured analysis. This project takes a dataset of 4,000 farm records across 8 Indian states, 10 districts, 8 crops, and 4 irrigation methods, and works through it end-to-end — from raw, imperfect data to statistically validated, actionable conclusions.</a:t>
            </a:r>
          </a:p>
          <a:p>
            <a:pPr algn="just"/>
            <a:r>
              <a:rPr lang="en-IN" dirty="0"/>
              <a:t>The analysis is organized around one central question: </a:t>
            </a:r>
            <a:r>
              <a:rPr lang="en-IN" b="1" dirty="0"/>
              <a:t>do Kharif, Rabi, and Zaid produce meaningfully different agricultural and economic outcomes, and if so, what's driving the difference?</a:t>
            </a:r>
            <a:r>
              <a:rPr lang="en-IN" dirty="0"/>
              <a:t> Rather than treating this as a broad, unfocused exploration of the dataset, the project narrows in on season as the primary lens, and every technique used — from cleaning to visualization to hypothesis testing — is chosen to answer that question rigorously.</a:t>
            </a:r>
          </a:p>
          <a:p>
            <a:pPr algn="just"/>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B5C624-6E79-0A02-77E1-23F7C57860DA}"/>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bright="40000"/>
                    </a14:imgEffect>
                  </a14:imgLayer>
                </a14:imgProps>
              </a:ext>
            </a:extLst>
          </a:blip>
          <a:stretch>
            <a:fillRect/>
          </a:stretch>
        </p:blipFill>
        <p:spPr>
          <a:xfrm>
            <a:off x="625980" y="6446417"/>
            <a:ext cx="3706253" cy="296092"/>
          </a:xfrm>
          <a:prstGeom prst="rect">
            <a:avLst/>
          </a:prstGeom>
        </p:spPr>
      </p:pic>
      <p:sp>
        <p:nvSpPr>
          <p:cNvPr id="7" name="TextBox 6">
            <a:extLst>
              <a:ext uri="{FF2B5EF4-FFF2-40B4-BE49-F238E27FC236}">
                <a16:creationId xmlns:a16="http://schemas.microsoft.com/office/drawing/2014/main" id="{8C4EC3DA-88F8-6794-808C-1A2B414277B7}"/>
              </a:ext>
            </a:extLst>
          </p:cNvPr>
          <p:cNvSpPr txBox="1"/>
          <p:nvPr/>
        </p:nvSpPr>
        <p:spPr>
          <a:xfrm>
            <a:off x="345233" y="289249"/>
            <a:ext cx="11501534" cy="6555641"/>
          </a:xfrm>
          <a:prstGeom prst="rect">
            <a:avLst/>
          </a:prstGeom>
          <a:noFill/>
        </p:spPr>
        <p:txBody>
          <a:bodyPr wrap="square" rtlCol="0">
            <a:spAutoFit/>
          </a:bodyPr>
          <a:lstStyle/>
          <a:p>
            <a:r>
              <a:rPr lang="en-IN" sz="2800" b="1" dirty="0"/>
              <a:t>What the project actually does:</a:t>
            </a:r>
          </a:p>
          <a:p>
            <a:endParaRPr lang="en-IN" dirty="0"/>
          </a:p>
          <a:p>
            <a:pPr marL="285750" lvl="0" indent="-285750" algn="just">
              <a:buFont typeface="Wingdings" panose="05000000000000000000" pitchFamily="2" charset="2"/>
              <a:buChar char="ü"/>
            </a:pPr>
            <a:r>
              <a:rPr lang="en-IN" b="1" dirty="0"/>
              <a:t>Cleans the data thoughtfully</a:t>
            </a:r>
            <a:r>
              <a:rPr lang="en-IN" dirty="0"/>
              <a:t> — missing values in rainfall, soil moisture, and yield are imputed using season-specific medians (not a single global average), because these fields are inherently season-dependent and a blanket fix would erase the very differences the project is trying to study. Statistical outliers are flagged rather than blindly deleted, since many turn out to be legitimate agronomic variation (e.g., Sugarcane's naturally much higher yield-per-hectare) rather than data errors.</a:t>
            </a:r>
          </a:p>
          <a:p>
            <a:pPr marL="285750" lvl="0" indent="-285750" algn="just">
              <a:buFont typeface="Wingdings" panose="05000000000000000000" pitchFamily="2" charset="2"/>
              <a:buChar char="ü"/>
            </a:pPr>
            <a:r>
              <a:rPr lang="en-IN" b="1" dirty="0"/>
              <a:t>Engineers fairer comparison metrics</a:t>
            </a:r>
            <a:r>
              <a:rPr lang="en-IN" dirty="0"/>
              <a:t> — including a crop-normalized yield score, so that seasonal comparisons aren't distorted by which crops happen to be more common in a given season.</a:t>
            </a:r>
          </a:p>
          <a:p>
            <a:pPr marL="285750" lvl="0" indent="-285750" algn="just">
              <a:buFont typeface="Wingdings" panose="05000000000000000000" pitchFamily="2" charset="2"/>
              <a:buChar char="ü"/>
            </a:pPr>
            <a:r>
              <a:rPr lang="en-IN" b="1" dirty="0"/>
              <a:t>Explores systematically</a:t>
            </a:r>
            <a:r>
              <a:rPr lang="en-IN" dirty="0"/>
              <a:t> — univariate distributions, then season-by-season breakdowns of environmental conditions, resource usage (fertilizer, pesticide, water, irrigation method), and economic performance (cost, revenue, profit, margins).</a:t>
            </a:r>
          </a:p>
          <a:p>
            <a:pPr marL="285750" lvl="0" indent="-285750" algn="just">
              <a:buFont typeface="Wingdings" panose="05000000000000000000" pitchFamily="2" charset="2"/>
              <a:buChar char="ü"/>
            </a:pPr>
            <a:r>
              <a:rPr lang="en-IN" b="1" dirty="0"/>
              <a:t>Tests relationships, not just visuals</a:t>
            </a:r>
            <a:r>
              <a:rPr lang="en-IN" dirty="0"/>
              <a:t> — correlation analysis between environmental factors and yield, both overall and within each season, to see whether weather alone explains performance.</a:t>
            </a:r>
          </a:p>
          <a:p>
            <a:pPr marL="285750" lvl="0" indent="-285750" algn="just">
              <a:buFont typeface="Wingdings" panose="05000000000000000000" pitchFamily="2" charset="2"/>
              <a:buChar char="ü"/>
            </a:pPr>
            <a:r>
              <a:rPr lang="en-IN" b="1" dirty="0"/>
              <a:t>Validates patterns statistically</a:t>
            </a:r>
            <a:r>
              <a:rPr lang="en-IN" dirty="0"/>
              <a:t> — using Kruskal-Wallis and Bonferroni-corrected pairwise tests (chosen because yield and profit are heavily skewed, not normally distributed) and Chi-square tests to check whether farming practices actually shift by season.</a:t>
            </a:r>
          </a:p>
          <a:p>
            <a:pPr marL="285750" lvl="0" indent="-285750" algn="just">
              <a:buFont typeface="Wingdings" panose="05000000000000000000" pitchFamily="2" charset="2"/>
              <a:buChar char="ü"/>
            </a:pPr>
            <a:r>
              <a:rPr lang="en-IN" b="1" dirty="0"/>
              <a:t>Hunts for the unexpected</a:t>
            </a:r>
            <a:r>
              <a:rPr lang="en-IN" dirty="0"/>
              <a:t> — surfacing counter-intuitive or high-risk patterns that a surface-level summary would miss.</a:t>
            </a:r>
          </a:p>
          <a:p>
            <a:pPr marL="285750" lvl="0" indent="-285750" algn="just">
              <a:buFont typeface="Wingdings" panose="05000000000000000000" pitchFamily="2" charset="2"/>
              <a:buChar char="ü"/>
            </a:pPr>
            <a:r>
              <a:rPr lang="en-IN" b="1" dirty="0"/>
              <a:t>Closes with real conclusions</a:t>
            </a:r>
            <a:r>
              <a:rPr lang="en-IN" dirty="0"/>
              <a:t> — data-grounded findings (e.g., Zaid being the weakest season economically, Kharif being a high-profit but high-disease-risk season) translated into concrete, actionable recommendations rather than generic observations.</a:t>
            </a:r>
          </a:p>
          <a:p>
            <a:endParaRPr lang="en-IN" dirty="0"/>
          </a:p>
        </p:txBody>
      </p:sp>
    </p:spTree>
    <p:extLst>
      <p:ext uri="{BB962C8B-B14F-4D97-AF65-F5344CB8AC3E}">
        <p14:creationId xmlns:p14="http://schemas.microsoft.com/office/powerpoint/2010/main" val="99666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754FCBF0-1DC5-B4C4-14DF-CB4BC632F0DC}"/>
              </a:ext>
            </a:extLst>
          </p:cNvPr>
          <p:cNvSpPr txBox="1"/>
          <p:nvPr/>
        </p:nvSpPr>
        <p:spPr>
          <a:xfrm>
            <a:off x="620008" y="1996751"/>
            <a:ext cx="9038461" cy="4247317"/>
          </a:xfrm>
          <a:prstGeom prst="rect">
            <a:avLst/>
          </a:prstGeom>
          <a:noFill/>
        </p:spPr>
        <p:txBody>
          <a:bodyPr wrap="square" rtlCol="0">
            <a:spAutoFit/>
          </a:bodyPr>
          <a:lstStyle/>
          <a:p>
            <a:pPr marL="285750" lvl="0" indent="-285750" algn="just">
              <a:buFont typeface="Wingdings" panose="05000000000000000000" pitchFamily="2" charset="2"/>
              <a:buChar char="v"/>
            </a:pPr>
            <a:r>
              <a:rPr lang="en-IN" b="1" dirty="0"/>
              <a:t>Agricultural policy makers / government agriculture departments</a:t>
            </a:r>
            <a:r>
              <a:rPr lang="en-IN" dirty="0"/>
              <a:t> — for evidence-based seasonal planning, subsidy targeting (e.g., support for Zaid-season farmers), and resource allocation decisions.</a:t>
            </a:r>
          </a:p>
          <a:p>
            <a:pPr marL="285750" lvl="0" indent="-285750" algn="just">
              <a:buFont typeface="Wingdings" panose="05000000000000000000" pitchFamily="2" charset="2"/>
              <a:buChar char="v"/>
            </a:pPr>
            <a:r>
              <a:rPr lang="en-IN" b="1" dirty="0"/>
              <a:t>Agricultural extension officers / advisory services</a:t>
            </a:r>
            <a:r>
              <a:rPr lang="en-IN" dirty="0"/>
              <a:t> — to guide farmers on season-specific irrigation choices, pest/disease management (especially for Kharif), and crop planning.</a:t>
            </a:r>
          </a:p>
          <a:p>
            <a:pPr marL="285750" lvl="0" indent="-285750" algn="just">
              <a:buFont typeface="Wingdings" panose="05000000000000000000" pitchFamily="2" charset="2"/>
              <a:buChar char="v"/>
            </a:pPr>
            <a:r>
              <a:rPr lang="en-IN" b="1" dirty="0"/>
              <a:t>Farmers and farmer cooperatives</a:t>
            </a:r>
            <a:r>
              <a:rPr lang="en-IN" dirty="0"/>
              <a:t> — indirectly, through the recommendations translated into practical advisories about irrigation methods, disease-resistant seed choices, and risk awareness by season.</a:t>
            </a:r>
          </a:p>
          <a:p>
            <a:pPr marL="285750" lvl="0" indent="-285750" algn="just">
              <a:buFont typeface="Wingdings" panose="05000000000000000000" pitchFamily="2" charset="2"/>
              <a:buChar char="v"/>
            </a:pPr>
            <a:r>
              <a:rPr lang="en-IN" b="1" dirty="0"/>
              <a:t>Agricultural economists and researchers</a:t>
            </a:r>
            <a:r>
              <a:rPr lang="en-IN" dirty="0"/>
              <a:t> — as a reference analysis or a template methodology for studying seasonal effects in farm-level data.</a:t>
            </a:r>
          </a:p>
          <a:p>
            <a:pPr marL="285750" lvl="0" indent="-285750" algn="just">
              <a:buFont typeface="Wingdings" panose="05000000000000000000" pitchFamily="2" charset="2"/>
              <a:buChar char="v"/>
            </a:pPr>
            <a:r>
              <a:rPr lang="en-IN" b="1" dirty="0"/>
              <a:t>Financial institutions and crop insurance providers</a:t>
            </a:r>
            <a:r>
              <a:rPr lang="en-IN" dirty="0"/>
              <a:t> — to inform risk assessment and insurance product design, since the analysis identifies which season carries the highest loss-making risk.</a:t>
            </a:r>
          </a:p>
          <a:p>
            <a:pPr marL="285750" indent="-285750" algn="just">
              <a:buFont typeface="Wingdings" panose="05000000000000000000" pitchFamily="2" charset="2"/>
              <a:buChar char="v"/>
            </a:pPr>
            <a:endParaRPr lang="en-IN"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TextBox 2">
            <a:extLst>
              <a:ext uri="{FF2B5EF4-FFF2-40B4-BE49-F238E27FC236}">
                <a16:creationId xmlns:a16="http://schemas.microsoft.com/office/drawing/2014/main" id="{8F218414-6503-1EBB-0974-D72801A1D4E8}"/>
              </a:ext>
            </a:extLst>
          </p:cNvPr>
          <p:cNvSpPr txBox="1"/>
          <p:nvPr/>
        </p:nvSpPr>
        <p:spPr>
          <a:xfrm>
            <a:off x="1778000" y="1437095"/>
            <a:ext cx="7931020" cy="4247317"/>
          </a:xfrm>
          <a:prstGeom prst="rect">
            <a:avLst/>
          </a:prstGeom>
          <a:noFill/>
        </p:spPr>
        <p:txBody>
          <a:bodyPr wrap="square" rtlCol="0">
            <a:spAutoFit/>
          </a:bodyPr>
          <a:lstStyle/>
          <a:p>
            <a:pPr marL="400050" lvl="0" indent="-400050" algn="just">
              <a:buFont typeface="+mj-lt"/>
              <a:buAutoNum type="romanUcPeriod"/>
            </a:pPr>
            <a:r>
              <a:rPr lang="en-IN" b="1" dirty="0"/>
              <a:t>Python 3</a:t>
            </a:r>
            <a:r>
              <a:rPr lang="en-IN" dirty="0"/>
              <a:t> — core language for the entire analysis</a:t>
            </a:r>
          </a:p>
          <a:p>
            <a:pPr marL="400050" lvl="0" indent="-400050" algn="just">
              <a:buFont typeface="+mj-lt"/>
              <a:buAutoNum type="romanUcPeriod"/>
            </a:pPr>
            <a:r>
              <a:rPr lang="en-IN" b="1" dirty="0"/>
              <a:t>Pandas</a:t>
            </a:r>
            <a:r>
              <a:rPr lang="en-IN" dirty="0"/>
              <a:t> — data loading, cleaning, grouping, pivot tables, and feature engineering</a:t>
            </a:r>
          </a:p>
          <a:p>
            <a:pPr marL="400050" lvl="0" indent="-400050" algn="just">
              <a:buFont typeface="+mj-lt"/>
              <a:buAutoNum type="romanUcPeriod"/>
            </a:pPr>
            <a:r>
              <a:rPr lang="en-IN" b="1" dirty="0"/>
              <a:t>NumPy</a:t>
            </a:r>
            <a:r>
              <a:rPr lang="en-IN" dirty="0"/>
              <a:t> — numerical operations and array computations</a:t>
            </a:r>
          </a:p>
          <a:p>
            <a:pPr marL="400050" lvl="0" indent="-400050" algn="just">
              <a:buFont typeface="+mj-lt"/>
              <a:buAutoNum type="romanUcPeriod"/>
            </a:pPr>
            <a:r>
              <a:rPr lang="en-IN" b="1" dirty="0"/>
              <a:t>Matplotlib</a:t>
            </a:r>
            <a:r>
              <a:rPr lang="en-IN" dirty="0"/>
              <a:t> — base plotting engine for all charts</a:t>
            </a:r>
          </a:p>
          <a:p>
            <a:pPr marL="400050" lvl="0" indent="-400050" algn="just">
              <a:buFont typeface="+mj-lt"/>
              <a:buAutoNum type="romanUcPeriod"/>
            </a:pPr>
            <a:r>
              <a:rPr lang="en-IN" b="1" dirty="0"/>
              <a:t>Seaborn</a:t>
            </a:r>
            <a:r>
              <a:rPr lang="en-IN" dirty="0"/>
              <a:t> — statistical visualizations (boxplots, heatmaps, distribution plots) built on top of Matplotlib</a:t>
            </a:r>
          </a:p>
          <a:p>
            <a:pPr marL="400050" lvl="0" indent="-400050" algn="just">
              <a:buFont typeface="+mj-lt"/>
              <a:buAutoNum type="romanUcPeriod"/>
            </a:pPr>
            <a:r>
              <a:rPr lang="en-IN" b="1" dirty="0"/>
              <a:t>SciPy (</a:t>
            </a:r>
            <a:r>
              <a:rPr lang="en-IN" b="1" dirty="0" err="1"/>
              <a:t>scipy.stats</a:t>
            </a:r>
            <a:r>
              <a:rPr lang="en-IN" b="1" dirty="0"/>
              <a:t>)</a:t>
            </a:r>
            <a:r>
              <a:rPr lang="en-IN" dirty="0"/>
              <a:t> — hypothesis testing, including: </a:t>
            </a:r>
          </a:p>
          <a:p>
            <a:pPr marL="857250" lvl="1" indent="-400050" algn="just">
              <a:buFont typeface="+mj-lt"/>
              <a:buAutoNum type="romanUcPeriod"/>
            </a:pPr>
            <a:r>
              <a:rPr lang="en-IN" dirty="0"/>
              <a:t>Kruskal-Wallis test (non-parametric comparison across seasons)</a:t>
            </a:r>
          </a:p>
          <a:p>
            <a:pPr marL="857250" lvl="1" indent="-400050" algn="just">
              <a:buFont typeface="+mj-lt"/>
              <a:buAutoNum type="romanUcPeriod"/>
            </a:pPr>
            <a:r>
              <a:rPr lang="en-IN" dirty="0"/>
              <a:t>Mann-Whitney U test (pairwise post-hoc comparisons, Bonferroni-corrected)</a:t>
            </a:r>
          </a:p>
          <a:p>
            <a:pPr marL="857250" lvl="1" indent="-400050" algn="just">
              <a:buFont typeface="+mj-lt"/>
              <a:buAutoNum type="romanUcPeriod"/>
            </a:pPr>
            <a:r>
              <a:rPr lang="en-IN" dirty="0"/>
              <a:t>Chi-square test of independence (categorical association testing)</a:t>
            </a:r>
          </a:p>
          <a:p>
            <a:pPr marL="400050" lvl="0" indent="-400050" algn="just">
              <a:buFont typeface="+mj-lt"/>
              <a:buAutoNum type="romanUcPeriod"/>
            </a:pPr>
            <a:r>
              <a:rPr lang="en-IN" b="1" dirty="0"/>
              <a:t>Google </a:t>
            </a:r>
            <a:r>
              <a:rPr lang="en-IN" b="1" dirty="0" err="1"/>
              <a:t>Colab</a:t>
            </a:r>
            <a:r>
              <a:rPr lang="en-IN" dirty="0"/>
              <a:t> — cloud-based execution platform (no local setup required)</a:t>
            </a:r>
          </a:p>
          <a:p>
            <a:pPr marL="400050" indent="-400050" algn="just">
              <a:buFont typeface="+mj-lt"/>
              <a:buAutoNum type="romanUcPeriod"/>
            </a:pPr>
            <a:endParaRPr lang="en-IN"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5" name="Picture 14">
            <a:extLst>
              <a:ext uri="{FF2B5EF4-FFF2-40B4-BE49-F238E27FC236}">
                <a16:creationId xmlns:a16="http://schemas.microsoft.com/office/drawing/2014/main" id="{1F1E7C4B-04FF-6060-00B2-867C42D8815F}"/>
              </a:ext>
            </a:extLst>
          </p:cNvPr>
          <p:cNvPicPr>
            <a:picLocks noChangeAspect="1"/>
          </p:cNvPicPr>
          <p:nvPr/>
        </p:nvPicPr>
        <p:blipFill>
          <a:blip r:embed="rId3"/>
          <a:stretch>
            <a:fillRect/>
          </a:stretch>
        </p:blipFill>
        <p:spPr>
          <a:xfrm>
            <a:off x="27993" y="1078839"/>
            <a:ext cx="5128740" cy="3651781"/>
          </a:xfrm>
          <a:prstGeom prst="rect">
            <a:avLst/>
          </a:prstGeom>
          <a:ln>
            <a:solidFill>
              <a:schemeClr val="tx1"/>
            </a:solidFill>
          </a:ln>
        </p:spPr>
      </p:pic>
      <p:pic>
        <p:nvPicPr>
          <p:cNvPr id="19" name="Picture 18">
            <a:extLst>
              <a:ext uri="{FF2B5EF4-FFF2-40B4-BE49-F238E27FC236}">
                <a16:creationId xmlns:a16="http://schemas.microsoft.com/office/drawing/2014/main" id="{4879F76F-4119-8A36-94DE-4C9D43B209BC}"/>
              </a:ext>
            </a:extLst>
          </p:cNvPr>
          <p:cNvPicPr>
            <a:picLocks noChangeAspect="1"/>
          </p:cNvPicPr>
          <p:nvPr/>
        </p:nvPicPr>
        <p:blipFill>
          <a:blip r:embed="rId4"/>
          <a:stretch>
            <a:fillRect/>
          </a:stretch>
        </p:blipFill>
        <p:spPr>
          <a:xfrm>
            <a:off x="5226654" y="2293272"/>
            <a:ext cx="6923279" cy="2437353"/>
          </a:xfrm>
          <a:prstGeom prst="rect">
            <a:avLst/>
          </a:prstGeom>
          <a:ln>
            <a:solidFill>
              <a:schemeClr val="tx1"/>
            </a:solidFill>
          </a:ln>
        </p:spPr>
      </p:pic>
      <p:sp>
        <p:nvSpPr>
          <p:cNvPr id="20" name="TextBox 19">
            <a:extLst>
              <a:ext uri="{FF2B5EF4-FFF2-40B4-BE49-F238E27FC236}">
                <a16:creationId xmlns:a16="http://schemas.microsoft.com/office/drawing/2014/main" id="{AD770D48-15D9-4703-F681-60FBABCEB99D}"/>
              </a:ext>
            </a:extLst>
          </p:cNvPr>
          <p:cNvSpPr txBox="1"/>
          <p:nvPr/>
        </p:nvSpPr>
        <p:spPr>
          <a:xfrm>
            <a:off x="320982" y="5019869"/>
            <a:ext cx="4558928" cy="369332"/>
          </a:xfrm>
          <a:prstGeom prst="rect">
            <a:avLst/>
          </a:prstGeom>
          <a:noFill/>
        </p:spPr>
        <p:txBody>
          <a:bodyPr wrap="square" rtlCol="0">
            <a:spAutoFit/>
          </a:bodyPr>
          <a:lstStyle/>
          <a:p>
            <a:r>
              <a:rPr lang="en-US" dirty="0"/>
              <a:t>Fig 1: Records </a:t>
            </a:r>
            <a:r>
              <a:rPr lang="en-US" dirty="0" err="1"/>
              <a:t>w.r.t.</a:t>
            </a:r>
            <a:r>
              <a:rPr lang="en-US" dirty="0"/>
              <a:t> different parameters</a:t>
            </a:r>
            <a:endParaRPr lang="en-IN" dirty="0"/>
          </a:p>
        </p:txBody>
      </p:sp>
      <p:sp>
        <p:nvSpPr>
          <p:cNvPr id="21" name="TextBox 20">
            <a:extLst>
              <a:ext uri="{FF2B5EF4-FFF2-40B4-BE49-F238E27FC236}">
                <a16:creationId xmlns:a16="http://schemas.microsoft.com/office/drawing/2014/main" id="{72549686-9D8E-4FF3-BC49-069CDF9A63DE}"/>
              </a:ext>
            </a:extLst>
          </p:cNvPr>
          <p:cNvSpPr txBox="1"/>
          <p:nvPr/>
        </p:nvSpPr>
        <p:spPr>
          <a:xfrm>
            <a:off x="6458276" y="5019869"/>
            <a:ext cx="4460033" cy="369332"/>
          </a:xfrm>
          <a:prstGeom prst="rect">
            <a:avLst/>
          </a:prstGeom>
          <a:noFill/>
        </p:spPr>
        <p:txBody>
          <a:bodyPr wrap="square" rtlCol="0">
            <a:spAutoFit/>
          </a:bodyPr>
          <a:lstStyle/>
          <a:p>
            <a:r>
              <a:rPr lang="en-US" dirty="0"/>
              <a:t>Fig 2: Raw vs Crop-Norm. Yield</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898FC92-A206-69B8-F7C6-D5A23000E008}"/>
              </a:ext>
            </a:extLst>
          </p:cNvPr>
          <p:cNvPicPr>
            <a:picLocks noChangeAspect="1"/>
          </p:cNvPicPr>
          <p:nvPr/>
        </p:nvPicPr>
        <p:blipFill>
          <a:blip r:embed="rId3"/>
          <a:stretch>
            <a:fillRect/>
          </a:stretch>
        </p:blipFill>
        <p:spPr>
          <a:xfrm>
            <a:off x="73874" y="2804737"/>
            <a:ext cx="7023941" cy="1377243"/>
          </a:xfrm>
          <a:prstGeom prst="rect">
            <a:avLst/>
          </a:prstGeom>
          <a:ln>
            <a:solidFill>
              <a:schemeClr val="tx1"/>
            </a:solidFill>
          </a:ln>
        </p:spPr>
      </p:pic>
      <p:pic>
        <p:nvPicPr>
          <p:cNvPr id="12" name="Picture 11">
            <a:extLst>
              <a:ext uri="{FF2B5EF4-FFF2-40B4-BE49-F238E27FC236}">
                <a16:creationId xmlns:a16="http://schemas.microsoft.com/office/drawing/2014/main" id="{B405FFE4-E89E-EC3D-A767-65CC1C4B5ACD}"/>
              </a:ext>
            </a:extLst>
          </p:cNvPr>
          <p:cNvPicPr>
            <a:picLocks noChangeAspect="1"/>
          </p:cNvPicPr>
          <p:nvPr/>
        </p:nvPicPr>
        <p:blipFill>
          <a:blip r:embed="rId4"/>
          <a:stretch>
            <a:fillRect/>
          </a:stretch>
        </p:blipFill>
        <p:spPr>
          <a:xfrm>
            <a:off x="7215853" y="937426"/>
            <a:ext cx="4944628" cy="3310506"/>
          </a:xfrm>
          <a:prstGeom prst="rect">
            <a:avLst/>
          </a:prstGeom>
          <a:ln>
            <a:solidFill>
              <a:schemeClr val="tx1"/>
            </a:solidFill>
          </a:ln>
        </p:spPr>
      </p:pic>
      <p:sp>
        <p:nvSpPr>
          <p:cNvPr id="14" name="TextBox 13">
            <a:extLst>
              <a:ext uri="{FF2B5EF4-FFF2-40B4-BE49-F238E27FC236}">
                <a16:creationId xmlns:a16="http://schemas.microsoft.com/office/drawing/2014/main" id="{47BA9BA1-F7F1-310A-6102-850D8F877BB1}"/>
              </a:ext>
            </a:extLst>
          </p:cNvPr>
          <p:cNvSpPr txBox="1"/>
          <p:nvPr/>
        </p:nvSpPr>
        <p:spPr>
          <a:xfrm>
            <a:off x="1035698" y="4512092"/>
            <a:ext cx="4721290" cy="646331"/>
          </a:xfrm>
          <a:prstGeom prst="rect">
            <a:avLst/>
          </a:prstGeom>
          <a:noFill/>
        </p:spPr>
        <p:txBody>
          <a:bodyPr wrap="square" rtlCol="0">
            <a:spAutoFit/>
          </a:bodyPr>
          <a:lstStyle/>
          <a:p>
            <a:r>
              <a:rPr lang="en-US" dirty="0"/>
              <a:t>Fig 3: Plots of Records</a:t>
            </a:r>
            <a:endParaRPr lang="en-IN" dirty="0"/>
          </a:p>
          <a:p>
            <a:endParaRPr lang="en-IN" dirty="0"/>
          </a:p>
        </p:txBody>
      </p:sp>
      <p:sp>
        <p:nvSpPr>
          <p:cNvPr id="15" name="TextBox 14">
            <a:extLst>
              <a:ext uri="{FF2B5EF4-FFF2-40B4-BE49-F238E27FC236}">
                <a16:creationId xmlns:a16="http://schemas.microsoft.com/office/drawing/2014/main" id="{A604D8D6-6571-0350-4F26-86AE9D02DA4B}"/>
              </a:ext>
            </a:extLst>
          </p:cNvPr>
          <p:cNvSpPr txBox="1"/>
          <p:nvPr/>
        </p:nvSpPr>
        <p:spPr>
          <a:xfrm>
            <a:off x="8204468" y="4512092"/>
            <a:ext cx="2951834" cy="369332"/>
          </a:xfrm>
          <a:prstGeom prst="rect">
            <a:avLst/>
          </a:prstGeom>
          <a:noFill/>
        </p:spPr>
        <p:txBody>
          <a:bodyPr wrap="none" rtlCol="0">
            <a:spAutoFit/>
          </a:bodyPr>
          <a:lstStyle/>
          <a:p>
            <a:r>
              <a:rPr lang="en-US" dirty="0"/>
              <a:t>Fig 4:Production by Season</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C373F95-8ACD-77EA-0075-C21C1A3A4943}"/>
              </a:ext>
            </a:extLst>
          </p:cNvPr>
          <p:cNvPicPr>
            <a:picLocks noChangeAspect="1"/>
          </p:cNvPicPr>
          <p:nvPr/>
        </p:nvPicPr>
        <p:blipFill>
          <a:blip r:embed="rId3"/>
          <a:stretch>
            <a:fillRect/>
          </a:stretch>
        </p:blipFill>
        <p:spPr>
          <a:xfrm>
            <a:off x="112792" y="1559851"/>
            <a:ext cx="5607698" cy="3114986"/>
          </a:xfrm>
          <a:prstGeom prst="rect">
            <a:avLst/>
          </a:prstGeom>
          <a:ln>
            <a:solidFill>
              <a:schemeClr val="tx1"/>
            </a:solidFill>
          </a:ln>
        </p:spPr>
      </p:pic>
      <p:pic>
        <p:nvPicPr>
          <p:cNvPr id="12" name="Picture 11">
            <a:extLst>
              <a:ext uri="{FF2B5EF4-FFF2-40B4-BE49-F238E27FC236}">
                <a16:creationId xmlns:a16="http://schemas.microsoft.com/office/drawing/2014/main" id="{431EED4E-0F94-CAA7-57EE-2FFE4CD55928}"/>
              </a:ext>
            </a:extLst>
          </p:cNvPr>
          <p:cNvPicPr>
            <a:picLocks noChangeAspect="1"/>
          </p:cNvPicPr>
          <p:nvPr/>
        </p:nvPicPr>
        <p:blipFill>
          <a:blip r:embed="rId4"/>
          <a:stretch>
            <a:fillRect/>
          </a:stretch>
        </p:blipFill>
        <p:spPr>
          <a:xfrm>
            <a:off x="5807377" y="1201586"/>
            <a:ext cx="6255574" cy="3474871"/>
          </a:xfrm>
          <a:prstGeom prst="rect">
            <a:avLst/>
          </a:prstGeom>
          <a:ln>
            <a:solidFill>
              <a:schemeClr val="tx1"/>
            </a:solidFill>
          </a:ln>
        </p:spPr>
      </p:pic>
      <p:sp>
        <p:nvSpPr>
          <p:cNvPr id="13" name="TextBox 12">
            <a:extLst>
              <a:ext uri="{FF2B5EF4-FFF2-40B4-BE49-F238E27FC236}">
                <a16:creationId xmlns:a16="http://schemas.microsoft.com/office/drawing/2014/main" id="{AE5B979E-94C5-177A-10FA-800F2CD628C2}"/>
              </a:ext>
            </a:extLst>
          </p:cNvPr>
          <p:cNvSpPr txBox="1"/>
          <p:nvPr/>
        </p:nvSpPr>
        <p:spPr>
          <a:xfrm>
            <a:off x="1457784" y="4888914"/>
            <a:ext cx="2401107" cy="646331"/>
          </a:xfrm>
          <a:prstGeom prst="rect">
            <a:avLst/>
          </a:prstGeom>
          <a:noFill/>
        </p:spPr>
        <p:txBody>
          <a:bodyPr wrap="none" rtlCol="0">
            <a:spAutoFit/>
          </a:bodyPr>
          <a:lstStyle/>
          <a:p>
            <a:r>
              <a:rPr lang="en-US" dirty="0"/>
              <a:t>Fig 5: Env. Conditions</a:t>
            </a:r>
            <a:endParaRPr lang="en-IN" dirty="0"/>
          </a:p>
          <a:p>
            <a:endParaRPr lang="en-IN" dirty="0"/>
          </a:p>
        </p:txBody>
      </p:sp>
      <p:sp>
        <p:nvSpPr>
          <p:cNvPr id="14" name="TextBox 13">
            <a:extLst>
              <a:ext uri="{FF2B5EF4-FFF2-40B4-BE49-F238E27FC236}">
                <a16:creationId xmlns:a16="http://schemas.microsoft.com/office/drawing/2014/main" id="{FDBE87A1-F4F7-BCDB-A4EF-E74100C5D60F}"/>
              </a:ext>
            </a:extLst>
          </p:cNvPr>
          <p:cNvSpPr txBox="1"/>
          <p:nvPr/>
        </p:nvSpPr>
        <p:spPr>
          <a:xfrm>
            <a:off x="6686215" y="4888913"/>
            <a:ext cx="2802627" cy="646331"/>
          </a:xfrm>
          <a:prstGeom prst="rect">
            <a:avLst/>
          </a:prstGeom>
          <a:noFill/>
        </p:spPr>
        <p:txBody>
          <a:bodyPr wrap="none" rtlCol="0">
            <a:spAutoFit/>
          </a:bodyPr>
          <a:lstStyle/>
          <a:p>
            <a:r>
              <a:rPr lang="en-US" dirty="0"/>
              <a:t>Fig 6: Usages of Resource</a:t>
            </a:r>
            <a:endParaRPr lang="en-IN" dirty="0"/>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2CBB49B-1812-7010-CAC2-CB53989E73D2}"/>
              </a:ext>
            </a:extLst>
          </p:cNvPr>
          <p:cNvPicPr>
            <a:picLocks noChangeAspect="1"/>
          </p:cNvPicPr>
          <p:nvPr/>
        </p:nvPicPr>
        <p:blipFill>
          <a:blip r:embed="rId3"/>
          <a:stretch>
            <a:fillRect/>
          </a:stretch>
        </p:blipFill>
        <p:spPr>
          <a:xfrm>
            <a:off x="320982" y="1032261"/>
            <a:ext cx="5439568" cy="4550368"/>
          </a:xfrm>
          <a:prstGeom prst="rect">
            <a:avLst/>
          </a:prstGeom>
          <a:ln>
            <a:solidFill>
              <a:schemeClr val="tx1"/>
            </a:solidFill>
          </a:ln>
        </p:spPr>
      </p:pic>
      <p:pic>
        <p:nvPicPr>
          <p:cNvPr id="9" name="Picture 8">
            <a:extLst>
              <a:ext uri="{FF2B5EF4-FFF2-40B4-BE49-F238E27FC236}">
                <a16:creationId xmlns:a16="http://schemas.microsoft.com/office/drawing/2014/main" id="{C0D8BB38-93D3-01E1-51C2-6ABB0746057F}"/>
              </a:ext>
            </a:extLst>
          </p:cNvPr>
          <p:cNvPicPr>
            <a:picLocks noChangeAspect="1"/>
          </p:cNvPicPr>
          <p:nvPr/>
        </p:nvPicPr>
        <p:blipFill>
          <a:blip r:embed="rId4"/>
          <a:stretch>
            <a:fillRect/>
          </a:stretch>
        </p:blipFill>
        <p:spPr>
          <a:xfrm>
            <a:off x="6213643" y="1788796"/>
            <a:ext cx="5716470" cy="3793833"/>
          </a:xfrm>
          <a:prstGeom prst="rect">
            <a:avLst/>
          </a:prstGeom>
          <a:ln>
            <a:solidFill>
              <a:schemeClr val="tx1"/>
            </a:solidFill>
          </a:ln>
        </p:spPr>
      </p:pic>
      <p:sp>
        <p:nvSpPr>
          <p:cNvPr id="11" name="TextBox 10">
            <a:extLst>
              <a:ext uri="{FF2B5EF4-FFF2-40B4-BE49-F238E27FC236}">
                <a16:creationId xmlns:a16="http://schemas.microsoft.com/office/drawing/2014/main" id="{55DA69C4-0299-6B6F-739A-88E08EBD2FF6}"/>
              </a:ext>
            </a:extLst>
          </p:cNvPr>
          <p:cNvSpPr txBox="1"/>
          <p:nvPr/>
        </p:nvSpPr>
        <p:spPr>
          <a:xfrm>
            <a:off x="807164" y="5862320"/>
            <a:ext cx="4415076" cy="923330"/>
          </a:xfrm>
          <a:prstGeom prst="rect">
            <a:avLst/>
          </a:prstGeom>
          <a:noFill/>
        </p:spPr>
        <p:txBody>
          <a:bodyPr wrap="square" rtlCol="0">
            <a:spAutoFit/>
          </a:bodyPr>
          <a:lstStyle/>
          <a:p>
            <a:r>
              <a:rPr lang="en-US" dirty="0"/>
              <a:t>Fig 7: Conf. Matrix of all Numeric Values</a:t>
            </a:r>
            <a:endParaRPr lang="en-IN" dirty="0"/>
          </a:p>
          <a:p>
            <a:endParaRPr lang="en-IN" dirty="0"/>
          </a:p>
          <a:p>
            <a:endParaRPr lang="en-IN" dirty="0"/>
          </a:p>
        </p:txBody>
      </p:sp>
      <p:sp>
        <p:nvSpPr>
          <p:cNvPr id="12" name="TextBox 11">
            <a:extLst>
              <a:ext uri="{FF2B5EF4-FFF2-40B4-BE49-F238E27FC236}">
                <a16:creationId xmlns:a16="http://schemas.microsoft.com/office/drawing/2014/main" id="{CDAC6B58-439F-CC8E-75C5-73FC3183B9AB}"/>
              </a:ext>
            </a:extLst>
          </p:cNvPr>
          <p:cNvSpPr txBox="1"/>
          <p:nvPr/>
        </p:nvSpPr>
        <p:spPr>
          <a:xfrm>
            <a:off x="7528560" y="5741630"/>
            <a:ext cx="1797287" cy="923330"/>
          </a:xfrm>
          <a:prstGeom prst="rect">
            <a:avLst/>
          </a:prstGeom>
          <a:noFill/>
        </p:spPr>
        <p:txBody>
          <a:bodyPr wrap="none" rtlCol="0">
            <a:spAutoFit/>
          </a:bodyPr>
          <a:lstStyle/>
          <a:p>
            <a:r>
              <a:rPr lang="en-US" dirty="0"/>
              <a:t>Fig 8: Log Scale</a:t>
            </a:r>
            <a:endParaRPr lang="en-IN" dirty="0"/>
          </a:p>
          <a:p>
            <a:endParaRPr lang="en-IN" dirty="0"/>
          </a:p>
          <a:p>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8659FBC-AC82-9F2A-AA6A-B99936B8F8C6}"/>
              </a:ext>
            </a:extLst>
          </p:cNvPr>
          <p:cNvPicPr>
            <a:picLocks noChangeAspect="1"/>
          </p:cNvPicPr>
          <p:nvPr/>
        </p:nvPicPr>
        <p:blipFill>
          <a:blip r:embed="rId3"/>
          <a:stretch>
            <a:fillRect/>
          </a:stretch>
        </p:blipFill>
        <p:spPr>
          <a:xfrm>
            <a:off x="137369" y="1201586"/>
            <a:ext cx="6046680" cy="3607221"/>
          </a:xfrm>
          <a:prstGeom prst="rect">
            <a:avLst/>
          </a:prstGeom>
          <a:ln>
            <a:solidFill>
              <a:schemeClr val="tx1"/>
            </a:solidFill>
          </a:ln>
        </p:spPr>
      </p:pic>
      <p:pic>
        <p:nvPicPr>
          <p:cNvPr id="9" name="Picture 8">
            <a:extLst>
              <a:ext uri="{FF2B5EF4-FFF2-40B4-BE49-F238E27FC236}">
                <a16:creationId xmlns:a16="http://schemas.microsoft.com/office/drawing/2014/main" id="{05020B34-8613-E0FB-48AB-E4B5398D90CD}"/>
              </a:ext>
            </a:extLst>
          </p:cNvPr>
          <p:cNvPicPr>
            <a:picLocks noChangeAspect="1"/>
          </p:cNvPicPr>
          <p:nvPr/>
        </p:nvPicPr>
        <p:blipFill>
          <a:blip r:embed="rId4"/>
          <a:stretch>
            <a:fillRect/>
          </a:stretch>
        </p:blipFill>
        <p:spPr>
          <a:xfrm>
            <a:off x="6329200" y="1206997"/>
            <a:ext cx="5801002" cy="3607222"/>
          </a:xfrm>
          <a:prstGeom prst="rect">
            <a:avLst/>
          </a:prstGeom>
          <a:ln>
            <a:solidFill>
              <a:schemeClr val="tx1"/>
            </a:solidFill>
          </a:ln>
        </p:spPr>
      </p:pic>
      <p:sp>
        <p:nvSpPr>
          <p:cNvPr id="11" name="TextBox 10">
            <a:extLst>
              <a:ext uri="{FF2B5EF4-FFF2-40B4-BE49-F238E27FC236}">
                <a16:creationId xmlns:a16="http://schemas.microsoft.com/office/drawing/2014/main" id="{BEF5EBCB-ACDA-E2A7-4019-E7A5EAFE10A4}"/>
              </a:ext>
            </a:extLst>
          </p:cNvPr>
          <p:cNvSpPr txBox="1"/>
          <p:nvPr/>
        </p:nvSpPr>
        <p:spPr>
          <a:xfrm>
            <a:off x="1402080" y="5038914"/>
            <a:ext cx="2534668" cy="369332"/>
          </a:xfrm>
          <a:prstGeom prst="rect">
            <a:avLst/>
          </a:prstGeom>
          <a:noFill/>
        </p:spPr>
        <p:txBody>
          <a:bodyPr wrap="none" rtlCol="0">
            <a:spAutoFit/>
          </a:bodyPr>
          <a:lstStyle/>
          <a:p>
            <a:r>
              <a:rPr lang="en-US" dirty="0"/>
              <a:t>Fig 9: Water Efficiency</a:t>
            </a:r>
            <a:endParaRPr lang="en-IN" dirty="0"/>
          </a:p>
        </p:txBody>
      </p:sp>
      <p:sp>
        <p:nvSpPr>
          <p:cNvPr id="12" name="TextBox 11">
            <a:extLst>
              <a:ext uri="{FF2B5EF4-FFF2-40B4-BE49-F238E27FC236}">
                <a16:creationId xmlns:a16="http://schemas.microsoft.com/office/drawing/2014/main" id="{A234E360-5516-9A74-BF6E-9282C1850620}"/>
              </a:ext>
            </a:extLst>
          </p:cNvPr>
          <p:cNvSpPr txBox="1"/>
          <p:nvPr/>
        </p:nvSpPr>
        <p:spPr>
          <a:xfrm>
            <a:off x="7294880" y="5038914"/>
            <a:ext cx="2989921" cy="369332"/>
          </a:xfrm>
          <a:prstGeom prst="rect">
            <a:avLst/>
          </a:prstGeom>
          <a:noFill/>
        </p:spPr>
        <p:txBody>
          <a:bodyPr wrap="none" rtlCol="0">
            <a:spAutoFit/>
          </a:bodyPr>
          <a:lstStyle/>
          <a:p>
            <a:r>
              <a:rPr lang="en-US" dirty="0"/>
              <a:t>Fig 10: Irrigation by Season</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A4BF3C8-B1C2-AB1B-7C47-24ABED53B997}"/>
              </a:ext>
            </a:extLst>
          </p:cNvPr>
          <p:cNvSpPr txBox="1"/>
          <p:nvPr/>
        </p:nvSpPr>
        <p:spPr>
          <a:xfrm>
            <a:off x="808756" y="1328877"/>
            <a:ext cx="9205997" cy="3416320"/>
          </a:xfrm>
          <a:prstGeom prst="rect">
            <a:avLst/>
          </a:prstGeom>
          <a:noFill/>
        </p:spPr>
        <p:txBody>
          <a:bodyPr wrap="square" rtlCol="0">
            <a:spAutoFit/>
          </a:bodyPr>
          <a:lstStyle/>
          <a:p>
            <a:pPr marL="342900" lvl="0" indent="-342900" algn="just">
              <a:buFont typeface="+mj-lt"/>
              <a:buAutoNum type="arabicParenR"/>
            </a:pPr>
            <a:r>
              <a:rPr lang="en-IN" b="1" dirty="0"/>
              <a:t>Predictive Modelling</a:t>
            </a:r>
            <a:r>
              <a:rPr lang="en-IN" dirty="0"/>
              <a:t> — Forecast yield/profit using ML (Regression, Random Forest, </a:t>
            </a:r>
            <a:r>
              <a:rPr lang="en-IN" dirty="0" err="1"/>
              <a:t>XGBoost</a:t>
            </a:r>
            <a:r>
              <a:rPr lang="en-IN" dirty="0"/>
              <a:t>)</a:t>
            </a:r>
          </a:p>
          <a:p>
            <a:pPr marL="342900" lvl="0" indent="-342900" algn="just">
              <a:buFont typeface="+mj-lt"/>
              <a:buAutoNum type="arabicParenR"/>
            </a:pPr>
            <a:r>
              <a:rPr lang="en-IN" b="1" dirty="0"/>
              <a:t>Multi-Year Data</a:t>
            </a:r>
            <a:r>
              <a:rPr lang="en-IN" dirty="0"/>
              <a:t> — Enable trend analysis across years, not just one season snapshot</a:t>
            </a:r>
          </a:p>
          <a:p>
            <a:pPr marL="342900" lvl="0" indent="-342900" algn="just">
              <a:buFont typeface="+mj-lt"/>
              <a:buAutoNum type="arabicParenR"/>
            </a:pPr>
            <a:r>
              <a:rPr lang="en-IN" b="1" dirty="0"/>
              <a:t>Climate Integration</a:t>
            </a:r>
            <a:r>
              <a:rPr lang="en-IN" dirty="0"/>
              <a:t> — Add weather forecasts &amp; satellite (NDVI) data for real-time crop health</a:t>
            </a:r>
          </a:p>
          <a:p>
            <a:pPr marL="342900" lvl="0" indent="-342900" algn="just">
              <a:buFont typeface="+mj-lt"/>
              <a:buAutoNum type="arabicParenR"/>
            </a:pPr>
            <a:r>
              <a:rPr lang="en-IN" b="1" dirty="0"/>
              <a:t>Farm Segmentation</a:t>
            </a:r>
            <a:r>
              <a:rPr lang="en-IN" dirty="0"/>
              <a:t> — Cluster farms into risk/performance profiles using K-Means</a:t>
            </a:r>
          </a:p>
          <a:p>
            <a:pPr marL="342900" lvl="0" indent="-342900" algn="just">
              <a:buFont typeface="+mj-lt"/>
              <a:buAutoNum type="arabicParenR"/>
            </a:pPr>
            <a:r>
              <a:rPr lang="en-IN" b="1" dirty="0"/>
              <a:t>Interactive Dashboard</a:t>
            </a:r>
            <a:r>
              <a:rPr lang="en-IN" dirty="0"/>
              <a:t> — Deploy via </a:t>
            </a:r>
            <a:r>
              <a:rPr lang="en-IN" dirty="0" err="1"/>
              <a:t>Streamlit</a:t>
            </a:r>
            <a:r>
              <a:rPr lang="en-IN" dirty="0"/>
              <a:t>/Power BI for non-technical users</a:t>
            </a:r>
          </a:p>
          <a:p>
            <a:pPr marL="342900" lvl="0" indent="-342900" algn="just">
              <a:buFont typeface="+mj-lt"/>
              <a:buAutoNum type="arabicParenR"/>
            </a:pPr>
            <a:r>
              <a:rPr lang="en-IN" b="1" dirty="0"/>
              <a:t>Recommendation Engine</a:t>
            </a:r>
            <a:r>
              <a:rPr lang="en-IN" dirty="0"/>
              <a:t> — Suggest optimal irrigation &amp; inputs by crop/season/region</a:t>
            </a:r>
          </a:p>
          <a:p>
            <a:pPr marL="342900" lvl="0" indent="-342900" algn="just">
              <a:buFont typeface="+mj-lt"/>
              <a:buAutoNum type="arabicParenR"/>
            </a:pPr>
            <a:r>
              <a:rPr lang="en-IN" b="1" dirty="0"/>
              <a:t>Scale Nationally</a:t>
            </a:r>
            <a:r>
              <a:rPr lang="en-IN" dirty="0"/>
              <a:t> — Extend beyond current 8 states to validate broader patterns</a:t>
            </a:r>
          </a:p>
          <a:p>
            <a:pPr marL="342900" lvl="0" indent="-342900" algn="just">
              <a:buFont typeface="+mj-lt"/>
              <a:buAutoNum type="arabicParenR"/>
            </a:pPr>
            <a:r>
              <a:rPr lang="en-IN" b="1" dirty="0"/>
              <a:t>Field Validation</a:t>
            </a:r>
            <a:r>
              <a:rPr lang="en-IN" dirty="0"/>
              <a:t> — Pilot-test recommendations with real farmers &amp; extension officers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A1A1D86-F002-97B2-E806-C9C1239AC827}"/>
              </a:ext>
            </a:extLst>
          </p:cNvPr>
          <p:cNvSpPr txBox="1"/>
          <p:nvPr/>
        </p:nvSpPr>
        <p:spPr>
          <a:xfrm>
            <a:off x="3816221" y="2687241"/>
            <a:ext cx="3620277" cy="646331"/>
          </a:xfrm>
          <a:prstGeom prst="rect">
            <a:avLst/>
          </a:prstGeom>
          <a:noFill/>
        </p:spPr>
        <p:txBody>
          <a:bodyPr wrap="square" rtlCol="0">
            <a:spAutoFit/>
          </a:bodyPr>
          <a:lstStyle/>
          <a:p>
            <a:r>
              <a:rPr lang="en-IN" sz="3600" b="1" dirty="0">
                <a:solidFill>
                  <a:srgbClr val="00B0F0"/>
                </a:solidFill>
                <a:hlinkClick r:id="rId3">
                  <a:extLst>
                    <a:ext uri="{A12FA001-AC4F-418D-AE19-62706E023703}">
                      <ahyp:hlinkClr xmlns:ahyp="http://schemas.microsoft.com/office/drawing/2018/hyperlinkcolor" val="tx"/>
                    </a:ext>
                  </a:extLst>
                </a:hlinkClick>
              </a:rPr>
              <a:t>GitHub Link</a:t>
            </a:r>
            <a:endParaRPr lang="en-IN" sz="3600" b="1" dirty="0">
              <a:solidFill>
                <a:srgbClr val="00B0F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31C6954-3D6E-F3FE-A9BC-43410C4ADF1C}"/>
              </a:ext>
            </a:extLst>
          </p:cNvPr>
          <p:cNvPicPr>
            <a:picLocks noChangeAspect="1"/>
          </p:cNvPicPr>
          <p:nvPr/>
        </p:nvPicPr>
        <p:blipFill>
          <a:blip r:embed="rId3"/>
          <a:stretch>
            <a:fillRect/>
          </a:stretch>
        </p:blipFill>
        <p:spPr>
          <a:xfrm>
            <a:off x="3278925" y="1275371"/>
            <a:ext cx="5634149" cy="3938665"/>
          </a:xfrm>
          <a:prstGeom prst="rect">
            <a:avLst/>
          </a:prstGeom>
        </p:spPr>
      </p:pic>
      <p:sp>
        <p:nvSpPr>
          <p:cNvPr id="6" name="TextBox 5">
            <a:extLst>
              <a:ext uri="{FF2B5EF4-FFF2-40B4-BE49-F238E27FC236}">
                <a16:creationId xmlns:a16="http://schemas.microsoft.com/office/drawing/2014/main" id="{F8CE0E32-F19A-92DF-6921-BA2A4ED4601F}"/>
              </a:ext>
            </a:extLst>
          </p:cNvPr>
          <p:cNvSpPr txBox="1"/>
          <p:nvPr/>
        </p:nvSpPr>
        <p:spPr>
          <a:xfrm>
            <a:off x="4646645" y="5582629"/>
            <a:ext cx="3928188" cy="523220"/>
          </a:xfrm>
          <a:prstGeom prst="rect">
            <a:avLst/>
          </a:prstGeom>
          <a:noFill/>
        </p:spPr>
        <p:txBody>
          <a:bodyPr wrap="square" rtlCol="0">
            <a:spAutoFit/>
          </a:bodyPr>
          <a:lstStyle/>
          <a:p>
            <a:r>
              <a:rPr lang="en-IN" sz="2800" b="1" dirty="0">
                <a:solidFill>
                  <a:schemeClr val="accent2"/>
                </a:solidFill>
                <a:hlinkClick r:id="rId4" action="ppaction://hlinkfile">
                  <a:extLst>
                    <a:ext uri="{A12FA001-AC4F-418D-AE19-62706E023703}">
                      <ahyp:hlinkClr xmlns:ahyp="http://schemas.microsoft.com/office/drawing/2018/hyperlinkcolor" val="tx"/>
                    </a:ext>
                  </a:extLst>
                </a:hlinkClick>
              </a:rPr>
              <a:t>CERTIFICATE LINK</a:t>
            </a:r>
            <a:endParaRPr lang="en-IN" sz="2800" b="1" dirty="0">
              <a:solidFill>
                <a:schemeClr val="accent2"/>
              </a:solidFill>
            </a:endParaRPr>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4759" y="26501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625</TotalTime>
  <Words>1118</Words>
  <Application>Microsoft Office PowerPoint</Application>
  <PresentationFormat>Widescreen</PresentationFormat>
  <Paragraphs>71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PowerPoint Presentation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SANKALAN ROY</cp:lastModifiedBy>
  <cp:revision>116</cp:revision>
  <dcterms:created xsi:type="dcterms:W3CDTF">2021-07-11T13:13:15Z</dcterms:created>
  <dcterms:modified xsi:type="dcterms:W3CDTF">2026-09-10T10:11:31Z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